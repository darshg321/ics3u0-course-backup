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TT Supermolot Neue Expanded Bold" charset="1" panose="02000803000000020004"/>
      <p:regular r:id="rId14"/>
    </p:embeddedFont>
    <p:embeddedFont>
      <p:font typeface="TT Supermolot Neue Expanded" charset="1" panose="0200050302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89639" y="8469381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29682" y="2239158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3341" y="2593317"/>
            <a:ext cx="15861317" cy="5724348"/>
          </a:xfrm>
          <a:custGeom>
            <a:avLst/>
            <a:gdLst/>
            <a:ahLst/>
            <a:cxnLst/>
            <a:rect r="r" b="b" t="t" l="l"/>
            <a:pathLst>
              <a:path h="5724348" w="15861317">
                <a:moveTo>
                  <a:pt x="0" y="0"/>
                </a:moveTo>
                <a:lnTo>
                  <a:pt x="15861318" y="0"/>
                </a:lnTo>
                <a:lnTo>
                  <a:pt x="15861318" y="5724348"/>
                </a:lnTo>
                <a:lnTo>
                  <a:pt x="0" y="57243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168" t="0" r="0" b="-5872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66219" y="3413966"/>
            <a:ext cx="13673239" cy="385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40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INTERPRETERS    &amp; COMPILERS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80103" y="0"/>
            <a:ext cx="2507897" cy="442315"/>
            <a:chOff x="0" y="0"/>
            <a:chExt cx="660516" cy="1164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516" cy="116495"/>
            </a:xfrm>
            <a:custGeom>
              <a:avLst/>
              <a:gdLst/>
              <a:ahLst/>
              <a:cxnLst/>
              <a:rect r="r" b="b" t="t" l="l"/>
              <a:pathLst>
                <a:path h="116495" w="660516">
                  <a:moveTo>
                    <a:pt x="0" y="0"/>
                  </a:moveTo>
                  <a:lnTo>
                    <a:pt x="660516" y="0"/>
                  </a:lnTo>
                  <a:lnTo>
                    <a:pt x="660516" y="116495"/>
                  </a:lnTo>
                  <a:lnTo>
                    <a:pt x="0" y="116495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60516" cy="173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85914" y="1726639"/>
            <a:ext cx="9916172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WHAT ARE THEY?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4889" y="5076825"/>
            <a:ext cx="392771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Interpreters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7897" y="5752302"/>
            <a:ext cx="4077471" cy="2967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Translates entire code at once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Translating occurs before execution [1]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Outputs a binary file, such as .exe [1]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91025" y="5076825"/>
            <a:ext cx="3927719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Compilers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18743" y="5752302"/>
            <a:ext cx="4058487" cy="346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Translates code into machine instructions line by line</a:t>
            </a: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Interprets and executes code simultaneously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07897" y="3430106"/>
            <a:ext cx="2029243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Both Are: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37140" y="3446616"/>
            <a:ext cx="676546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Programs that translate high level languages to a lower level language [1]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59412" y="3999066"/>
            <a:ext cx="4384348" cy="227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Programming language designed to be easy for humans to work with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ie. Python, Javascript. [2] Generally interpreted.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57720" y="7157364"/>
            <a:ext cx="402872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Programming language meant for computers to read and execute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ie. Binary (0s and 1s). [1]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10680" y="3456141"/>
            <a:ext cx="403710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High Level Language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08988" y="6637933"/>
            <a:ext cx="4037109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Low Level Language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42212" y="1726639"/>
            <a:ext cx="12403576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ADVANTAGES &amp; DISADVANTAGES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8741" y="3857955"/>
            <a:ext cx="6338111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Advantages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58178" y="7576137"/>
            <a:ext cx="5723674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Better optimization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Higher speed product [1]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More in-depth error analysis [1]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3915" y="3857955"/>
            <a:ext cx="5659067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Disadvantages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64213" y="7281677"/>
            <a:ext cx="5781336" cy="197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Slower development due to initial compile wait times [1]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Don’t necessarily show where exactly errors are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58178" y="4794382"/>
            <a:ext cx="5723674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Easier to debug while developing [1]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Shorter develpment cycle due to no compile wait times [3]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Cross-platform execution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73915" y="5246099"/>
            <a:ext cx="5840194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Slower execution speed [1]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Limited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05882" y="5481968"/>
            <a:ext cx="2489810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Interpreters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957" y="7897842"/>
            <a:ext cx="2394560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Compilers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324932" y="4672012"/>
            <a:ext cx="156381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106528" y="3736875"/>
            <a:ext cx="67187" cy="56163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4100491" y="3737057"/>
            <a:ext cx="67187" cy="56163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324932" y="7065593"/>
            <a:ext cx="156381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42212" y="1726639"/>
            <a:ext cx="12403576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WHEN TO USE?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38741" y="3857955"/>
            <a:ext cx="5443111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Better For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3915" y="3857955"/>
            <a:ext cx="5659067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Examples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8178" y="5190395"/>
            <a:ext cx="5288243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Have detailed debugging in the project [2, 3]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1646" y="5097685"/>
            <a:ext cx="5781336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J</a:t>
            </a: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avascript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Python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Ruby [2]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82854" y="7559627"/>
            <a:ext cx="526356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Heavily performace dependant tasks [2, 3]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92788" y="7595187"/>
            <a:ext cx="5840194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C++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Rust [2]</a:t>
            </a:r>
          </a:p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Go [3]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324932" y="4672012"/>
            <a:ext cx="156381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0106528" y="3736875"/>
            <a:ext cx="67187" cy="56163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100491" y="3737057"/>
            <a:ext cx="67187" cy="56163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324932" y="7071390"/>
            <a:ext cx="1563813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305882" y="5481968"/>
            <a:ext cx="2489810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Interpreters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3957" y="7897842"/>
            <a:ext cx="2394560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b="true" sz="29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Compilers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309008" y="4544773"/>
            <a:ext cx="8279405" cy="4192105"/>
          </a:xfrm>
          <a:custGeom>
            <a:avLst/>
            <a:gdLst/>
            <a:ahLst/>
            <a:cxnLst/>
            <a:rect r="r" b="b" t="t" l="l"/>
            <a:pathLst>
              <a:path h="4192105" w="8279405">
                <a:moveTo>
                  <a:pt x="8279405" y="0"/>
                </a:moveTo>
                <a:lnTo>
                  <a:pt x="0" y="0"/>
                </a:lnTo>
                <a:lnTo>
                  <a:pt x="0" y="4192106"/>
                </a:lnTo>
                <a:lnTo>
                  <a:pt x="8279405" y="4192106"/>
                </a:lnTo>
                <a:lnTo>
                  <a:pt x="82794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8763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9587" y="3040110"/>
            <a:ext cx="8279405" cy="4192105"/>
          </a:xfrm>
          <a:custGeom>
            <a:avLst/>
            <a:gdLst/>
            <a:ahLst/>
            <a:cxnLst/>
            <a:rect r="r" b="b" t="t" l="l"/>
            <a:pathLst>
              <a:path h="4192105" w="8279405">
                <a:moveTo>
                  <a:pt x="0" y="0"/>
                </a:moveTo>
                <a:lnTo>
                  <a:pt x="8279405" y="0"/>
                </a:lnTo>
                <a:lnTo>
                  <a:pt x="8279405" y="4192105"/>
                </a:lnTo>
                <a:lnTo>
                  <a:pt x="0" y="4192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8763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84476" y="3219253"/>
            <a:ext cx="460040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Lexing/Tokenization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18924" y="3716651"/>
            <a:ext cx="584062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Scans code [4]</a:t>
            </a:r>
          </a:p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Identify key words and individual elements [5, 6, 7]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Separates code into chunks called tokens [5, 6]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381248" y="4723916"/>
            <a:ext cx="503739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Parsing/Syntax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15695" y="5221314"/>
            <a:ext cx="584062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Identifies each token [5]</a:t>
            </a:r>
          </a:p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Organizes them into an Abstract Syntax Tree (AST) [ 5, 6, 7]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Helps determine “order of operations” [7]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51208" y="2641648"/>
            <a:ext cx="1233001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46822" y="4146311"/>
            <a:ext cx="1230939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85914" y="1726639"/>
            <a:ext cx="9916172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HOW THEY WORK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99587" y="6640826"/>
            <a:ext cx="8279405" cy="4192105"/>
          </a:xfrm>
          <a:custGeom>
            <a:avLst/>
            <a:gdLst/>
            <a:ahLst/>
            <a:cxnLst/>
            <a:rect r="r" b="b" t="t" l="l"/>
            <a:pathLst>
              <a:path h="4192105" w="8279405">
                <a:moveTo>
                  <a:pt x="0" y="0"/>
                </a:moveTo>
                <a:lnTo>
                  <a:pt x="8279405" y="0"/>
                </a:lnTo>
                <a:lnTo>
                  <a:pt x="8279405" y="4192106"/>
                </a:lnTo>
                <a:lnTo>
                  <a:pt x="0" y="41921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8763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384476" y="6819969"/>
            <a:ext cx="540883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Intermediate Representation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8924" y="7317367"/>
            <a:ext cx="5840627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Optional, but commonly present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</a:t>
            </a: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ranslates code into a “middle language” to make task less demanding [5]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51208" y="6237404"/>
            <a:ext cx="1233001" cy="87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03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9359992" y="7994619"/>
            <a:ext cx="2920314" cy="558922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9359992" y="3607873"/>
            <a:ext cx="2901264" cy="558922"/>
          </a:xfrm>
          <a:prstGeom prst="line">
            <a:avLst/>
          </a:prstGeom>
          <a:ln cap="flat" w="76200">
            <a:solidFill>
              <a:srgbClr val="FFFFFF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33829" y="1159790"/>
            <a:ext cx="6176490" cy="3127338"/>
          </a:xfrm>
          <a:custGeom>
            <a:avLst/>
            <a:gdLst/>
            <a:ahLst/>
            <a:cxnLst/>
            <a:rect r="r" b="b" t="t" l="l"/>
            <a:pathLst>
              <a:path h="3127338" w="6176490">
                <a:moveTo>
                  <a:pt x="0" y="0"/>
                </a:moveTo>
                <a:lnTo>
                  <a:pt x="6176491" y="0"/>
                </a:lnTo>
                <a:lnTo>
                  <a:pt x="6176491" y="3127338"/>
                </a:lnTo>
                <a:lnTo>
                  <a:pt x="0" y="3127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8763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165074" y="1407605"/>
            <a:ext cx="460040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Optimization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99521" y="1905003"/>
            <a:ext cx="4629585" cy="129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Removes and changes parts of program to improve speed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29825" y="1525294"/>
            <a:ext cx="1233001" cy="87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190937" y="3809139"/>
            <a:ext cx="6166670" cy="3127338"/>
          </a:xfrm>
          <a:custGeom>
            <a:avLst/>
            <a:gdLst/>
            <a:ahLst/>
            <a:cxnLst/>
            <a:rect r="r" b="b" t="t" l="l"/>
            <a:pathLst>
              <a:path h="3127338" w="6166670">
                <a:moveTo>
                  <a:pt x="0" y="0"/>
                </a:moveTo>
                <a:lnTo>
                  <a:pt x="6166670" y="0"/>
                </a:lnTo>
                <a:lnTo>
                  <a:pt x="6166670" y="3127338"/>
                </a:lnTo>
                <a:lnTo>
                  <a:pt x="0" y="3127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8952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18400" y="4052799"/>
            <a:ext cx="395467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Code Generation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99521" y="4550197"/>
            <a:ext cx="457733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Assembly occurs, typically outputing .obj or .o files [5, 7]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29825" y="4172828"/>
            <a:ext cx="1230939" cy="87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05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75586" y="3935474"/>
            <a:ext cx="7868414" cy="2839710"/>
          </a:xfrm>
          <a:custGeom>
            <a:avLst/>
            <a:gdLst/>
            <a:ahLst/>
            <a:cxnLst/>
            <a:rect r="r" b="b" t="t" l="l"/>
            <a:pathLst>
              <a:path h="2839710" w="7868414">
                <a:moveTo>
                  <a:pt x="0" y="0"/>
                </a:moveTo>
                <a:lnTo>
                  <a:pt x="7868414" y="0"/>
                </a:lnTo>
                <a:lnTo>
                  <a:pt x="7868414" y="2839710"/>
                </a:lnTo>
                <a:lnTo>
                  <a:pt x="0" y="2839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168" t="0" r="0" b="-58722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60095" y="4764779"/>
            <a:ext cx="74454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COMPILERS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377354" y="6390042"/>
            <a:ext cx="4932965" cy="1669816"/>
          </a:xfrm>
          <a:custGeom>
            <a:avLst/>
            <a:gdLst/>
            <a:ahLst/>
            <a:cxnLst/>
            <a:rect r="r" b="b" t="t" l="l"/>
            <a:pathLst>
              <a:path h="1669816" w="4932965">
                <a:moveTo>
                  <a:pt x="0" y="0"/>
                </a:moveTo>
                <a:lnTo>
                  <a:pt x="4932966" y="0"/>
                </a:lnTo>
                <a:lnTo>
                  <a:pt x="4932966" y="1669815"/>
                </a:lnTo>
                <a:lnTo>
                  <a:pt x="0" y="16698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701" t="0" r="0" b="-8728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985346" y="6618642"/>
            <a:ext cx="413901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Linking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363747" y="8059857"/>
            <a:ext cx="4946572" cy="2227143"/>
          </a:xfrm>
          <a:custGeom>
            <a:avLst/>
            <a:gdLst/>
            <a:ahLst/>
            <a:cxnLst/>
            <a:rect r="r" b="b" t="t" l="l"/>
            <a:pathLst>
              <a:path h="2227143" w="4946572">
                <a:moveTo>
                  <a:pt x="0" y="0"/>
                </a:moveTo>
                <a:lnTo>
                  <a:pt x="4946573" y="0"/>
                </a:lnTo>
                <a:lnTo>
                  <a:pt x="4946573" y="2227143"/>
                </a:lnTo>
                <a:lnTo>
                  <a:pt x="0" y="22271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292" t="-40419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399521" y="7116040"/>
            <a:ext cx="4724836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Connects .obj or .o files [8]</a:t>
            </a:r>
          </a:p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Connects any external libraries used [8]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Outputs final (commonly .exe)  [8]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089717" y="6879627"/>
            <a:ext cx="1274030" cy="2173284"/>
          </a:xfrm>
          <a:custGeom>
            <a:avLst/>
            <a:gdLst/>
            <a:ahLst/>
            <a:cxnLst/>
            <a:rect r="r" b="b" t="t" l="l"/>
            <a:pathLst>
              <a:path h="2173284" w="1274030">
                <a:moveTo>
                  <a:pt x="0" y="0"/>
                </a:moveTo>
                <a:lnTo>
                  <a:pt x="1274030" y="0"/>
                </a:lnTo>
                <a:lnTo>
                  <a:pt x="1274030" y="2173284"/>
                </a:lnTo>
                <a:lnTo>
                  <a:pt x="0" y="2173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9424" t="0" r="-386339" b="-43899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029825" y="7186700"/>
            <a:ext cx="1233001" cy="87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98510" y="897727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43759" y="1639594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43550" y="5242069"/>
            <a:ext cx="6166670" cy="3127338"/>
          </a:xfrm>
          <a:custGeom>
            <a:avLst/>
            <a:gdLst/>
            <a:ahLst/>
            <a:cxnLst/>
            <a:rect r="r" b="b" t="t" l="l"/>
            <a:pathLst>
              <a:path h="3127338" w="6166670">
                <a:moveTo>
                  <a:pt x="0" y="0"/>
                </a:moveTo>
                <a:lnTo>
                  <a:pt x="6166670" y="0"/>
                </a:lnTo>
                <a:lnTo>
                  <a:pt x="6166670" y="3127338"/>
                </a:lnTo>
                <a:lnTo>
                  <a:pt x="0" y="3127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8952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71013" y="5485729"/>
            <a:ext cx="395467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Repeat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424642" y="1882903"/>
            <a:ext cx="4932965" cy="1669816"/>
          </a:xfrm>
          <a:custGeom>
            <a:avLst/>
            <a:gdLst/>
            <a:ahLst/>
            <a:cxnLst/>
            <a:rect r="r" b="b" t="t" l="l"/>
            <a:pathLst>
              <a:path h="1669816" w="4932965">
                <a:moveTo>
                  <a:pt x="0" y="0"/>
                </a:moveTo>
                <a:lnTo>
                  <a:pt x="4932965" y="0"/>
                </a:lnTo>
                <a:lnTo>
                  <a:pt x="4932965" y="1669816"/>
                </a:lnTo>
                <a:lnTo>
                  <a:pt x="0" y="16698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701" t="0" r="0" b="-87286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446809" y="2608901"/>
            <a:ext cx="4469430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Runs current line of translated code [7]</a:t>
            </a:r>
          </a:p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Optimizes carefully, to a lesser extent than compilers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137004" y="2372488"/>
            <a:ext cx="1274030" cy="2173284"/>
          </a:xfrm>
          <a:custGeom>
            <a:avLst/>
            <a:gdLst/>
            <a:ahLst/>
            <a:cxnLst/>
            <a:rect r="r" b="b" t="t" l="l"/>
            <a:pathLst>
              <a:path h="2173284" w="1274030">
                <a:moveTo>
                  <a:pt x="0" y="0"/>
                </a:moveTo>
                <a:lnTo>
                  <a:pt x="1274031" y="0"/>
                </a:lnTo>
                <a:lnTo>
                  <a:pt x="1274031" y="2173284"/>
                </a:lnTo>
                <a:lnTo>
                  <a:pt x="0" y="21732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89424" t="0" r="-386339" b="-4389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1035" y="3552719"/>
            <a:ext cx="4946572" cy="2227143"/>
          </a:xfrm>
          <a:custGeom>
            <a:avLst/>
            <a:gdLst/>
            <a:ahLst/>
            <a:cxnLst/>
            <a:rect r="r" b="b" t="t" l="l"/>
            <a:pathLst>
              <a:path h="2227143" w="4946572">
                <a:moveTo>
                  <a:pt x="0" y="0"/>
                </a:moveTo>
                <a:lnTo>
                  <a:pt x="4946572" y="0"/>
                </a:lnTo>
                <a:lnTo>
                  <a:pt x="4946572" y="2227142"/>
                </a:lnTo>
                <a:lnTo>
                  <a:pt x="0" y="22271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292" t="-40419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352134" y="5983127"/>
            <a:ext cx="457733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The entire process, from lexing to running code, is repeated for each 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82438" y="5605758"/>
            <a:ext cx="1230939" cy="87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2633" y="2111503"/>
            <a:ext cx="4139011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Runs Code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81407" y="2679561"/>
            <a:ext cx="1233001" cy="873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04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75586" y="3935474"/>
            <a:ext cx="7868414" cy="2839710"/>
          </a:xfrm>
          <a:custGeom>
            <a:avLst/>
            <a:gdLst/>
            <a:ahLst/>
            <a:cxnLst/>
            <a:rect r="r" b="b" t="t" l="l"/>
            <a:pathLst>
              <a:path h="2839710" w="7868414">
                <a:moveTo>
                  <a:pt x="0" y="0"/>
                </a:moveTo>
                <a:lnTo>
                  <a:pt x="7868414" y="0"/>
                </a:lnTo>
                <a:lnTo>
                  <a:pt x="7868414" y="2839710"/>
                </a:lnTo>
                <a:lnTo>
                  <a:pt x="0" y="2839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48168" t="0" r="0" b="-5872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60095" y="4764779"/>
            <a:ext cx="744549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INTERPRETERS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2134" y="7929245"/>
            <a:ext cx="495808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* Will stop running if error is encountered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0989" y="1536593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77854" y="7626302"/>
            <a:ext cx="1751134" cy="1124105"/>
          </a:xfrm>
          <a:custGeom>
            <a:avLst/>
            <a:gdLst/>
            <a:ahLst/>
            <a:cxnLst/>
            <a:rect r="r" b="b" t="t" l="l"/>
            <a:pathLst>
              <a:path h="1124105" w="1751134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89639" y="8469381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29682" y="2239158"/>
            <a:ext cx="3397020" cy="562052"/>
          </a:xfrm>
          <a:custGeom>
            <a:avLst/>
            <a:gdLst/>
            <a:ahLst/>
            <a:cxnLst/>
            <a:rect r="r" b="b" t="t" l="l"/>
            <a:pathLst>
              <a:path h="562052" w="3397020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3341" y="2593317"/>
            <a:ext cx="15861317" cy="5724348"/>
          </a:xfrm>
          <a:custGeom>
            <a:avLst/>
            <a:gdLst/>
            <a:ahLst/>
            <a:cxnLst/>
            <a:rect r="r" b="b" t="t" l="l"/>
            <a:pathLst>
              <a:path h="5724348" w="15861317">
                <a:moveTo>
                  <a:pt x="0" y="0"/>
                </a:moveTo>
                <a:lnTo>
                  <a:pt x="15861318" y="0"/>
                </a:lnTo>
                <a:lnTo>
                  <a:pt x="15861318" y="5724348"/>
                </a:lnTo>
                <a:lnTo>
                  <a:pt x="0" y="57243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8168" t="0" r="0" b="-5872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66219" y="3413966"/>
            <a:ext cx="13673239" cy="3854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400"/>
              </a:lnSpc>
              <a:spcBef>
                <a:spcPct val="0"/>
              </a:spcBef>
            </a:pPr>
            <a:r>
              <a:rPr lang="en-US" b="true" sz="11000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INTERACTIVE ACTIVITY!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780103" y="0"/>
            <a:ext cx="2507897" cy="442315"/>
            <a:chOff x="0" y="0"/>
            <a:chExt cx="660516" cy="1164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0516" cy="116495"/>
            </a:xfrm>
            <a:custGeom>
              <a:avLst/>
              <a:gdLst/>
              <a:ahLst/>
              <a:cxnLst/>
              <a:rect r="r" b="b" t="t" l="l"/>
              <a:pathLst>
                <a:path h="116495" w="660516">
                  <a:moveTo>
                    <a:pt x="0" y="0"/>
                  </a:moveTo>
                  <a:lnTo>
                    <a:pt x="660516" y="0"/>
                  </a:lnTo>
                  <a:lnTo>
                    <a:pt x="660516" y="116495"/>
                  </a:lnTo>
                  <a:lnTo>
                    <a:pt x="0" y="116495"/>
                  </a:lnTo>
                  <a:close/>
                </a:path>
              </a:pathLst>
            </a:custGeom>
            <a:solidFill>
              <a:srgbClr val="41B8D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660516" cy="1736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DAHCY3j6XBo</dc:identifier>
  <dcterms:modified xsi:type="dcterms:W3CDTF">2011-08-01T06:04:30Z</dcterms:modified>
  <cp:revision>1</cp:revision>
  <dc:title>Interpreters &amp; Compilers</dc:title>
</cp:coreProperties>
</file>